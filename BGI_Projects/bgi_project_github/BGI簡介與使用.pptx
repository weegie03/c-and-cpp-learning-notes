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1" r:id="rId1"/>
  </p:sldMasterIdLst>
  <p:notesMasterIdLst>
    <p:notesMasterId r:id="rId12"/>
  </p:notesMasterIdLst>
  <p:sldIdLst>
    <p:sldId id="376" r:id="rId2"/>
    <p:sldId id="536" r:id="rId3"/>
    <p:sldId id="537" r:id="rId4"/>
    <p:sldId id="534" r:id="rId5"/>
    <p:sldId id="535" r:id="rId6"/>
    <p:sldId id="541" r:id="rId7"/>
    <p:sldId id="540" r:id="rId8"/>
    <p:sldId id="542" r:id="rId9"/>
    <p:sldId id="543" r:id="rId10"/>
    <p:sldId id="544" r:id="rId1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pos="2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00"/>
    <a:srgbClr val="FFFF00"/>
    <a:srgbClr val="CC0000"/>
    <a:srgbClr val="9900FF"/>
    <a:srgbClr val="0000CC"/>
    <a:srgbClr val="000066"/>
    <a:srgbClr val="A50021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14" autoAdjust="0"/>
  </p:normalViewPr>
  <p:slideViewPr>
    <p:cSldViewPr snapToGrid="0">
      <p:cViewPr varScale="1">
        <p:scale>
          <a:sx n="126" d="100"/>
          <a:sy n="126" d="100"/>
        </p:scale>
        <p:origin x="150" y="600"/>
      </p:cViewPr>
      <p:guideLst>
        <p:guide orient="horz" pos="663"/>
        <p:guide pos="2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2549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49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D755FA-A0DE-4920-A5D4-1AACB656801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F8C18-6FA5-42D3-9B3C-3C68864D1A56}" type="slidenum">
              <a:rPr lang="en-US" altLang="zh-TW"/>
              <a:pPr/>
              <a:t>0</a:t>
            </a:fld>
            <a:endParaRPr lang="en-US" altLang="zh-TW"/>
          </a:p>
        </p:txBody>
      </p:sp>
      <p:sp>
        <p:nvSpPr>
          <p:cNvPr id="114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Line 2"/>
          <p:cNvSpPr>
            <a:spLocks noChangeShapeType="1"/>
          </p:cNvSpPr>
          <p:nvPr/>
        </p:nvSpPr>
        <p:spPr bwMode="auto">
          <a:xfrm>
            <a:off x="7596188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55650" y="620713"/>
            <a:ext cx="6781800" cy="2133600"/>
          </a:xfrm>
        </p:spPr>
        <p:txBody>
          <a:bodyPr/>
          <a:lstStyle>
            <a:lvl1pPr algn="r"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74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306863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27443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27443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27443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B23B4A6-57F0-4990-9FCF-D82425C45229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274440" name="Line 8"/>
          <p:cNvSpPr>
            <a:spLocks noChangeShapeType="1"/>
          </p:cNvSpPr>
          <p:nvPr/>
        </p:nvSpPr>
        <p:spPr bwMode="auto">
          <a:xfrm>
            <a:off x="250825" y="2852738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74441" name="Text Box 9"/>
          <p:cNvSpPr txBox="1">
            <a:spLocks noChangeArrowheads="1"/>
          </p:cNvSpPr>
          <p:nvPr userDrawn="1"/>
        </p:nvSpPr>
        <p:spPr bwMode="auto">
          <a:xfrm>
            <a:off x="6994525" y="6599238"/>
            <a:ext cx="2114550" cy="2143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zh-TW" altLang="en-US" sz="800" b="1"/>
              <a:t>尊重智慧財產權，請勿任意複製或是轉載！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1DE0C-6766-408F-AB68-A5FCC41A70C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709990-61DA-4C1C-99D8-F6F72FFC4DA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196975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86288" y="1196975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12FA12-360A-4342-844B-201EE03EF96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F0CE7-7DEA-4D79-8A2E-FDF205A32FA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69947-93A5-464D-BEF9-8648747A010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56281-3FE9-4720-8153-214048CB47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7A6B68-51CB-4161-BBFD-40D7F427595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93ED-CFBB-461B-B9FB-DFD8AD55B6D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1B27A9-A1E9-4191-8838-B3357FF483A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67488" y="260350"/>
            <a:ext cx="2057400" cy="53482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19800" cy="53482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D3631-CFF8-4DF2-B5C7-A51410B0B31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60350"/>
            <a:ext cx="754380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96975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734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/>
            </a:lvl1pPr>
          </a:lstStyle>
          <a:p>
            <a:endParaRPr lang="en-US" altLang="zh-TW"/>
          </a:p>
        </p:txBody>
      </p:sp>
      <p:sp>
        <p:nvSpPr>
          <p:cNvPr id="2734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/>
            </a:lvl1pPr>
          </a:lstStyle>
          <a:p>
            <a:endParaRPr lang="en-US" altLang="zh-TW"/>
          </a:p>
        </p:txBody>
      </p:sp>
      <p:sp>
        <p:nvSpPr>
          <p:cNvPr id="273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/>
            </a:lvl1pPr>
          </a:lstStyle>
          <a:p>
            <a:fld id="{95CDCBB4-ECF2-4D4C-AB42-E752C9D843FD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273415" name="Oval 7"/>
          <p:cNvSpPr>
            <a:spLocks noChangeArrowheads="1"/>
          </p:cNvSpPr>
          <p:nvPr/>
        </p:nvSpPr>
        <p:spPr bwMode="auto">
          <a:xfrm>
            <a:off x="8267700" y="117475"/>
            <a:ext cx="120650" cy="12065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16" name="Oval 8"/>
          <p:cNvSpPr>
            <a:spLocks noChangeArrowheads="1"/>
          </p:cNvSpPr>
          <p:nvPr/>
        </p:nvSpPr>
        <p:spPr bwMode="auto">
          <a:xfrm>
            <a:off x="8412163" y="117475"/>
            <a:ext cx="119062" cy="12065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17" name="Oval 9"/>
          <p:cNvSpPr>
            <a:spLocks noChangeArrowheads="1"/>
          </p:cNvSpPr>
          <p:nvPr/>
        </p:nvSpPr>
        <p:spPr bwMode="auto">
          <a:xfrm>
            <a:off x="8555038" y="117475"/>
            <a:ext cx="119062" cy="12065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18" name="Oval 10"/>
          <p:cNvSpPr>
            <a:spLocks noChangeArrowheads="1"/>
          </p:cNvSpPr>
          <p:nvPr/>
        </p:nvSpPr>
        <p:spPr bwMode="auto">
          <a:xfrm>
            <a:off x="8267700" y="284163"/>
            <a:ext cx="120650" cy="119062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19" name="Oval 11"/>
          <p:cNvSpPr>
            <a:spLocks noChangeArrowheads="1"/>
          </p:cNvSpPr>
          <p:nvPr/>
        </p:nvSpPr>
        <p:spPr bwMode="auto">
          <a:xfrm>
            <a:off x="8412163" y="284163"/>
            <a:ext cx="119062" cy="119062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0" name="Oval 12"/>
          <p:cNvSpPr>
            <a:spLocks noChangeArrowheads="1"/>
          </p:cNvSpPr>
          <p:nvPr/>
        </p:nvSpPr>
        <p:spPr bwMode="auto">
          <a:xfrm>
            <a:off x="8699500" y="117475"/>
            <a:ext cx="119063" cy="119063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1" name="Oval 13"/>
          <p:cNvSpPr>
            <a:spLocks noChangeArrowheads="1"/>
          </p:cNvSpPr>
          <p:nvPr/>
        </p:nvSpPr>
        <p:spPr bwMode="auto">
          <a:xfrm>
            <a:off x="8267700" y="452438"/>
            <a:ext cx="120650" cy="119062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2" name="Oval 14"/>
          <p:cNvSpPr>
            <a:spLocks noChangeArrowheads="1"/>
          </p:cNvSpPr>
          <p:nvPr/>
        </p:nvSpPr>
        <p:spPr bwMode="auto">
          <a:xfrm>
            <a:off x="8555038" y="284163"/>
            <a:ext cx="119062" cy="119062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3" name="Oval 15"/>
          <p:cNvSpPr>
            <a:spLocks noChangeArrowheads="1"/>
          </p:cNvSpPr>
          <p:nvPr/>
        </p:nvSpPr>
        <p:spPr bwMode="auto">
          <a:xfrm>
            <a:off x="8843963" y="117475"/>
            <a:ext cx="120650" cy="119063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4" name="Oval 16"/>
          <p:cNvSpPr>
            <a:spLocks noChangeArrowheads="1"/>
          </p:cNvSpPr>
          <p:nvPr/>
        </p:nvSpPr>
        <p:spPr bwMode="auto">
          <a:xfrm>
            <a:off x="8412163" y="452438"/>
            <a:ext cx="119062" cy="12065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5" name="Oval 17"/>
          <p:cNvSpPr>
            <a:spLocks noChangeArrowheads="1"/>
          </p:cNvSpPr>
          <p:nvPr/>
        </p:nvSpPr>
        <p:spPr bwMode="auto">
          <a:xfrm>
            <a:off x="8699500" y="284163"/>
            <a:ext cx="119063" cy="12065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6" name="Oval 18"/>
          <p:cNvSpPr>
            <a:spLocks noChangeArrowheads="1"/>
          </p:cNvSpPr>
          <p:nvPr/>
        </p:nvSpPr>
        <p:spPr bwMode="auto">
          <a:xfrm>
            <a:off x="8267700" y="620713"/>
            <a:ext cx="120650" cy="12065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7" name="Oval 19"/>
          <p:cNvSpPr>
            <a:spLocks noChangeArrowheads="1"/>
          </p:cNvSpPr>
          <p:nvPr/>
        </p:nvSpPr>
        <p:spPr bwMode="auto">
          <a:xfrm>
            <a:off x="8555038" y="452438"/>
            <a:ext cx="119062" cy="12065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8" name="Oval 20"/>
          <p:cNvSpPr>
            <a:spLocks noChangeArrowheads="1"/>
          </p:cNvSpPr>
          <p:nvPr/>
        </p:nvSpPr>
        <p:spPr bwMode="auto">
          <a:xfrm>
            <a:off x="8843963" y="284163"/>
            <a:ext cx="120650" cy="12065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29" name="Oval 21"/>
          <p:cNvSpPr>
            <a:spLocks noChangeArrowheads="1"/>
          </p:cNvSpPr>
          <p:nvPr/>
        </p:nvSpPr>
        <p:spPr bwMode="auto">
          <a:xfrm>
            <a:off x="8412163" y="620713"/>
            <a:ext cx="119062" cy="119062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0" name="Oval 22"/>
          <p:cNvSpPr>
            <a:spLocks noChangeArrowheads="1"/>
          </p:cNvSpPr>
          <p:nvPr/>
        </p:nvSpPr>
        <p:spPr bwMode="auto">
          <a:xfrm>
            <a:off x="8699500" y="452438"/>
            <a:ext cx="119063" cy="119062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1" name="Oval 23"/>
          <p:cNvSpPr>
            <a:spLocks noChangeArrowheads="1"/>
          </p:cNvSpPr>
          <p:nvPr/>
        </p:nvSpPr>
        <p:spPr bwMode="auto">
          <a:xfrm>
            <a:off x="8267700" y="787400"/>
            <a:ext cx="120650" cy="119063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2" name="Oval 24"/>
          <p:cNvSpPr>
            <a:spLocks noChangeArrowheads="1"/>
          </p:cNvSpPr>
          <p:nvPr/>
        </p:nvSpPr>
        <p:spPr bwMode="auto">
          <a:xfrm>
            <a:off x="8555038" y="620713"/>
            <a:ext cx="119062" cy="119062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3" name="Oval 25"/>
          <p:cNvSpPr>
            <a:spLocks noChangeArrowheads="1"/>
          </p:cNvSpPr>
          <p:nvPr/>
        </p:nvSpPr>
        <p:spPr bwMode="auto">
          <a:xfrm>
            <a:off x="8699500" y="620713"/>
            <a:ext cx="119063" cy="119062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4" name="Oval 26"/>
          <p:cNvSpPr>
            <a:spLocks noChangeArrowheads="1"/>
          </p:cNvSpPr>
          <p:nvPr/>
        </p:nvSpPr>
        <p:spPr bwMode="auto">
          <a:xfrm>
            <a:off x="8412163" y="787400"/>
            <a:ext cx="119062" cy="12065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5" name="Oval 27"/>
          <p:cNvSpPr>
            <a:spLocks noChangeArrowheads="1"/>
          </p:cNvSpPr>
          <p:nvPr/>
        </p:nvSpPr>
        <p:spPr bwMode="auto">
          <a:xfrm>
            <a:off x="8699500" y="787400"/>
            <a:ext cx="119063" cy="12065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436" name="Line 28"/>
          <p:cNvSpPr>
            <a:spLocks noChangeShapeType="1"/>
          </p:cNvSpPr>
          <p:nvPr/>
        </p:nvSpPr>
        <p:spPr bwMode="auto">
          <a:xfrm>
            <a:off x="250825" y="1052513"/>
            <a:ext cx="8642350" cy="0"/>
          </a:xfrm>
          <a:prstGeom prst="line">
            <a:avLst/>
          </a:prstGeom>
          <a:noFill/>
          <a:ln w="38100">
            <a:solidFill>
              <a:srgbClr val="004C00"/>
            </a:solidFill>
            <a:round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273437" name="Line 29"/>
          <p:cNvSpPr>
            <a:spLocks noChangeShapeType="1"/>
          </p:cNvSpPr>
          <p:nvPr userDrawn="1"/>
        </p:nvSpPr>
        <p:spPr bwMode="auto">
          <a:xfrm>
            <a:off x="250825" y="1052513"/>
            <a:ext cx="8642350" cy="0"/>
          </a:xfrm>
          <a:prstGeom prst="line">
            <a:avLst/>
          </a:prstGeom>
          <a:noFill/>
          <a:ln w="38100">
            <a:solidFill>
              <a:srgbClr val="004C00"/>
            </a:solidFill>
            <a:round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273438" name="Text Box 30"/>
          <p:cNvSpPr txBox="1">
            <a:spLocks noChangeArrowheads="1"/>
          </p:cNvSpPr>
          <p:nvPr userDrawn="1"/>
        </p:nvSpPr>
        <p:spPr bwMode="auto">
          <a:xfrm>
            <a:off x="6994525" y="6599238"/>
            <a:ext cx="2114550" cy="2143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zh-TW" altLang="en-US" sz="800" b="1"/>
              <a:t>尊重智慧財產權，請勿任意複製或是轉載！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kumimoji="1" sz="2600">
          <a:solidFill>
            <a:schemeClr val="tx1"/>
          </a:solidFill>
          <a:latin typeface="+mn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kumimoji="1" sz="2300">
          <a:solidFill>
            <a:schemeClr val="tx1"/>
          </a:solidFill>
          <a:latin typeface="+mn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82407377-76A6-4215-A0C7-531DBF729253}" type="slidenum">
              <a:rPr lang="en-US" altLang="zh-TW"/>
              <a:pPr/>
              <a:t>0</a:t>
            </a:fld>
            <a:endParaRPr lang="en-US" altLang="zh-TW"/>
          </a:p>
        </p:txBody>
      </p:sp>
      <p:sp>
        <p:nvSpPr>
          <p:cNvPr id="1140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620713"/>
            <a:ext cx="7213600" cy="2133600"/>
          </a:xfrm>
        </p:spPr>
        <p:txBody>
          <a:bodyPr/>
          <a:lstStyle/>
          <a:p>
            <a:r>
              <a:rPr lang="en-US" altLang="zh-TW" sz="4400" dirty="0"/>
              <a:t/>
            </a:r>
            <a:br>
              <a:rPr lang="en-US" altLang="zh-TW" sz="4400" dirty="0"/>
            </a:br>
            <a:r>
              <a:rPr lang="en-US" altLang="zh-TW" sz="4400" dirty="0" smtClean="0"/>
              <a:t>BGI</a:t>
            </a:r>
            <a:r>
              <a:rPr lang="zh-TW" altLang="en-US" sz="4400" dirty="0" smtClean="0"/>
              <a:t> 簡介與使用</a:t>
            </a:r>
            <a:endParaRPr lang="zh-TW" altLang="en-US" dirty="0"/>
          </a:p>
        </p:txBody>
      </p:sp>
      <p:sp>
        <p:nvSpPr>
          <p:cNvPr id="114074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2800" dirty="0" smtClean="0"/>
              <a:t>專案基本說</a:t>
            </a:r>
            <a:r>
              <a:rPr lang="zh-TW" altLang="en-US" sz="2800" dirty="0"/>
              <a:t>明</a:t>
            </a:r>
            <a:endParaRPr lang="en-US" altLang="zh-TW" sz="2800" dirty="0" smtClean="0"/>
          </a:p>
          <a:p>
            <a:pPr>
              <a:lnSpc>
                <a:spcPct val="90000"/>
              </a:lnSpc>
            </a:pPr>
            <a:r>
              <a:rPr lang="zh-TW" altLang="en-US" sz="2800" dirty="0" smtClean="0"/>
              <a:t>座標系統</a:t>
            </a:r>
            <a:endParaRPr lang="en-US" altLang="zh-TW" sz="2800" dirty="0" smtClean="0"/>
          </a:p>
          <a:p>
            <a:pPr>
              <a:lnSpc>
                <a:spcPct val="90000"/>
              </a:lnSpc>
            </a:pPr>
            <a:r>
              <a:rPr lang="zh-TW" altLang="en-US" sz="2800" smtClean="0"/>
              <a:t>靜態繪圖</a:t>
            </a:r>
            <a:endParaRPr lang="en-US" altLang="zh-TW" sz="2800" dirty="0" smtClean="0"/>
          </a:p>
          <a:p>
            <a:pPr>
              <a:lnSpc>
                <a:spcPct val="90000"/>
              </a:lnSpc>
            </a:pPr>
            <a:r>
              <a:rPr lang="zh-TW" altLang="en-US" sz="2800" dirty="0" smtClean="0"/>
              <a:t>動態繪圖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專案基本</a:t>
            </a:r>
            <a:r>
              <a:rPr lang="zh-TW" altLang="en-US" sz="4000" dirty="0" smtClean="0"/>
              <a:t>說明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開啟 </a:t>
            </a:r>
            <a:r>
              <a:rPr lang="en-US" altLang="zh-TW" dirty="0" smtClean="0"/>
              <a:t>BGI</a:t>
            </a:r>
            <a:r>
              <a:rPr lang="zh-TW" altLang="en-US" dirty="0" smtClean="0"/>
              <a:t> 資料夾下的 </a:t>
            </a:r>
            <a:r>
              <a:rPr lang="en-US" altLang="zh-TW" dirty="0" smtClean="0"/>
              <a:t>bgi.sln</a:t>
            </a:r>
          </a:p>
          <a:p>
            <a:pPr lvl="1"/>
            <a:r>
              <a:rPr lang="en-US" altLang="zh-TW" dirty="0" smtClean="0"/>
              <a:t>functions.cpp/</a:t>
            </a:r>
            <a:r>
              <a:rPr lang="en-US" altLang="zh-TW" dirty="0"/>
              <a:t> </a:t>
            </a:r>
            <a:r>
              <a:rPr lang="en-US" altLang="zh-TW" dirty="0" smtClean="0"/>
              <a:t>functions.cpp</a:t>
            </a:r>
          </a:p>
          <a:p>
            <a:pPr lvl="2"/>
            <a:r>
              <a:rPr lang="zh-TW" altLang="en-US" dirty="0" smtClean="0"/>
              <a:t>老師所撰寫提供滑鼠事件、座標變換與基本繪圖指令的程式檔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bgi_101.cpp</a:t>
            </a:r>
          </a:p>
          <a:p>
            <a:pPr lvl="2"/>
            <a:r>
              <a:rPr lang="en-US" altLang="zh-TW" dirty="0" smtClean="0"/>
              <a:t>BGI </a:t>
            </a:r>
            <a:r>
              <a:rPr lang="zh-TW" altLang="en-US" dirty="0" smtClean="0"/>
              <a:t>的基本框架與靜態的繪圖效果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bgi_animate.cpp</a:t>
            </a:r>
            <a:endParaRPr lang="en-US" altLang="zh-TW" dirty="0"/>
          </a:p>
          <a:p>
            <a:pPr lvl="2"/>
            <a:r>
              <a:rPr lang="en-US" altLang="zh-TW" dirty="0" smtClean="0"/>
              <a:t>BGI </a:t>
            </a:r>
            <a:r>
              <a:rPr lang="zh-TW" altLang="en-US" dirty="0" smtClean="0"/>
              <a:t>動態方式呈現繪圖的效果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86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專案基本說明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543233"/>
          </a:xfrm>
        </p:spPr>
        <p:txBody>
          <a:bodyPr/>
          <a:lstStyle/>
          <a:p>
            <a:r>
              <a:rPr lang="en-US" altLang="zh-TW" dirty="0"/>
              <a:t>bgi_101.cpp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主程式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1159611" y="3611397"/>
            <a:ext cx="617140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initwindow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SCREENWIDTH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SCREENWIDTH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</a:t>
            </a:r>
            <a:r>
              <a:rPr lang="en-US" altLang="zh-TW" sz="1100" dirty="0" smtClean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“BGI template”</a:t>
            </a:r>
            <a:r>
              <a:rPr lang="en-US" altLang="zh-TW" sz="1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  <a:r>
              <a:rPr lang="zh-TW" altLang="en-US" sz="1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zh-TW" altLang="en-US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開啟視窗</a:t>
            </a:r>
            <a:endParaRPr lang="en-US" altLang="zh-TW" sz="1100" dirty="0">
              <a:solidFill>
                <a:srgbClr val="008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registermousehandler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WM_MOUSEMOVE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</a:t>
            </a:r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move_handler</a:t>
            </a:r>
            <a:r>
              <a:rPr lang="en-US" altLang="zh-TW" sz="1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  <a:r>
              <a:rPr lang="en-US" altLang="zh-TW" sz="1100" dirty="0" smtClean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註冊滑鼠移動的處理函式</a:t>
            </a:r>
            <a:endParaRPr lang="zh-TW" altLang="en-US" sz="11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registermousehandler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WM_LBUTTONDOWN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</a:t>
            </a:r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lbDown_handler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   </a:t>
            </a:r>
            <a:r>
              <a:rPr lang="en-US" altLang="zh-TW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註冊滑鼠左鍵按下的處理函式</a:t>
            </a:r>
            <a:endParaRPr lang="zh-TW" altLang="en-US" sz="11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registermousehandler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WM_LBUTTONUP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</a:t>
            </a:r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lbUp_handler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  <a:r>
              <a:rPr lang="en-US" altLang="zh-TW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1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註冊滑鼠左鍵釋放的處理函式</a:t>
            </a:r>
            <a:endParaRPr lang="zh-TW" altLang="en-US" sz="11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1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srand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((</a:t>
            </a:r>
            <a:r>
              <a:rPr lang="en-US" altLang="zh-TW" sz="11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unsigned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 err="1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)time(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NULL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));</a:t>
            </a:r>
            <a:endParaRPr lang="zh-TW" altLang="en-US" sz="1100" dirty="0"/>
          </a:p>
        </p:txBody>
      </p:sp>
      <p:sp>
        <p:nvSpPr>
          <p:cNvPr id="7" name="矩形 6"/>
          <p:cNvSpPr/>
          <p:nvPr/>
        </p:nvSpPr>
        <p:spPr>
          <a:xfrm>
            <a:off x="1203906" y="2299433"/>
            <a:ext cx="69560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".\</a:t>
            </a:r>
            <a:r>
              <a:rPr lang="en-US" altLang="zh-TW" sz="12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BGIKernel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\</a:t>
            </a:r>
            <a:r>
              <a:rPr lang="en-US" altLang="zh-TW" sz="12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graphics.h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BGI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繪圖函式標頭檔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math.h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stdlib.h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2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time.h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en-US" altLang="zh-TW" sz="12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functions.h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基本繪圖函式標頭檔</a:t>
            </a:r>
            <a:endParaRPr lang="zh-TW" altLang="en-US" sz="1200" dirty="0"/>
          </a:p>
        </p:txBody>
      </p:sp>
      <p:sp>
        <p:nvSpPr>
          <p:cNvPr id="8" name="矩形 7"/>
          <p:cNvSpPr/>
          <p:nvPr/>
        </p:nvSpPr>
        <p:spPr bwMode="auto">
          <a:xfrm>
            <a:off x="2029638" y="4846417"/>
            <a:ext cx="1764015" cy="1618774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47040" y="4846417"/>
            <a:ext cx="13292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SCREENWIDTH</a:t>
            </a:r>
            <a:endParaRPr lang="zh-TW" altLang="en-US" sz="12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62193" y="5517304"/>
            <a:ext cx="14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SCREENHEIGHT</a:t>
            </a:r>
            <a:endParaRPr lang="zh-TW" altLang="en-US" sz="1200" dirty="0">
              <a:solidFill>
                <a:srgbClr val="6F008A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49166" y="3011233"/>
            <a:ext cx="263763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00" dirty="0" err="1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functions.h</a:t>
            </a:r>
            <a:endParaRPr lang="en-US" altLang="zh-TW" sz="1100" dirty="0">
              <a:solidFill>
                <a:srgbClr val="80808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marL="180975" lvl="1"/>
            <a:r>
              <a:rPr lang="en-US" altLang="zh-TW" sz="1100" dirty="0" smtClean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</a:t>
            </a:r>
            <a:r>
              <a:rPr lang="en-US" altLang="zh-TW" sz="11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define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SCREENWIDTH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900</a:t>
            </a:r>
          </a:p>
          <a:p>
            <a:pPr marL="180975" lvl="1"/>
            <a:r>
              <a:rPr lang="en-US" altLang="zh-TW" sz="11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SCREENHEIGHT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900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60123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座標</a:t>
            </a:r>
            <a:r>
              <a:rPr lang="zh-TW" altLang="en-US" sz="4000" dirty="0" smtClean="0"/>
              <a:t>系統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5"/>
            <a:ext cx="2983343" cy="541935"/>
          </a:xfrm>
        </p:spPr>
        <p:txBody>
          <a:bodyPr/>
          <a:lstStyle/>
          <a:p>
            <a:r>
              <a:rPr lang="zh-TW" altLang="en-US" dirty="0" smtClean="0"/>
              <a:t>預設</a:t>
            </a:r>
            <a:r>
              <a:rPr lang="zh-TW" altLang="en-US" dirty="0"/>
              <a:t>座</a:t>
            </a:r>
            <a:r>
              <a:rPr lang="zh-TW" altLang="en-US" dirty="0" smtClean="0"/>
              <a:t>標系</a:t>
            </a:r>
            <a:r>
              <a:rPr lang="zh-TW" altLang="en-US" dirty="0"/>
              <a:t>統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3</a:t>
            </a:fld>
            <a:endParaRPr lang="en-US" altLang="zh-TW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 bwMode="auto">
          <a:xfrm>
            <a:off x="5268472" y="1196975"/>
            <a:ext cx="2983343" cy="541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kumimoji="1" sz="23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TW" altLang="en-US" kern="0" dirty="0" smtClean="0"/>
              <a:t>座標變換後</a:t>
            </a:r>
            <a:endParaRPr lang="zh-TW" altLang="en-US" kern="0" dirty="0"/>
          </a:p>
        </p:txBody>
      </p:sp>
      <p:sp>
        <p:nvSpPr>
          <p:cNvPr id="6" name="矩形 5"/>
          <p:cNvSpPr/>
          <p:nvPr/>
        </p:nvSpPr>
        <p:spPr bwMode="auto">
          <a:xfrm>
            <a:off x="902000" y="3180254"/>
            <a:ext cx="2161774" cy="1983783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82640" y="257332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開啟的視窗大小</a:t>
            </a:r>
            <a:endParaRPr lang="zh-TW" altLang="en-US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單箭頭接點 8"/>
          <p:cNvCxnSpPr/>
          <p:nvPr/>
        </p:nvCxnSpPr>
        <p:spPr bwMode="auto">
          <a:xfrm>
            <a:off x="638530" y="3180254"/>
            <a:ext cx="283619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1" name="直線單箭頭接點 10"/>
          <p:cNvCxnSpPr/>
          <p:nvPr/>
        </p:nvCxnSpPr>
        <p:spPr bwMode="auto">
          <a:xfrm>
            <a:off x="902000" y="2935897"/>
            <a:ext cx="0" cy="266519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5" name="矩形 14"/>
          <p:cNvSpPr/>
          <p:nvPr/>
        </p:nvSpPr>
        <p:spPr>
          <a:xfrm>
            <a:off x="790591" y="1892913"/>
            <a:ext cx="263763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00" dirty="0" err="1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functions.h</a:t>
            </a:r>
            <a:endParaRPr lang="en-US" altLang="zh-TW" sz="1100" dirty="0">
              <a:solidFill>
                <a:srgbClr val="80808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marL="180975" lvl="1"/>
            <a:r>
              <a:rPr lang="en-US" altLang="zh-TW" sz="1100" dirty="0" smtClean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</a:t>
            </a:r>
            <a:r>
              <a:rPr lang="en-US" altLang="zh-TW" sz="11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define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SCREENWIDTH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900</a:t>
            </a:r>
          </a:p>
          <a:p>
            <a:pPr marL="180975" lvl="1"/>
            <a:r>
              <a:rPr lang="en-US" altLang="zh-TW" sz="11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SCREENHEIGHT</a:t>
            </a:r>
            <a:r>
              <a:rPr lang="en-US" altLang="zh-TW" sz="11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900</a:t>
            </a:r>
            <a:endParaRPr lang="zh-TW" altLang="en-US" sz="1100" dirty="0"/>
          </a:p>
        </p:txBody>
      </p:sp>
      <p:sp>
        <p:nvSpPr>
          <p:cNvPr id="16" name="矩形 15"/>
          <p:cNvSpPr/>
          <p:nvPr/>
        </p:nvSpPr>
        <p:spPr>
          <a:xfrm>
            <a:off x="3015793" y="3447349"/>
            <a:ext cx="13292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SCREENWIDTH</a:t>
            </a:r>
            <a:endParaRPr lang="zh-TW" altLang="en-US" sz="12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01542" y="2861547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(0,0)</a:t>
            </a:r>
            <a:endParaRPr lang="zh-TW" altLang="en-US" sz="1200" dirty="0">
              <a:latin typeface="+mj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84596" y="2882401"/>
            <a:ext cx="2872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X</a:t>
            </a:r>
            <a:endParaRPr lang="zh-TW" altLang="en-US" sz="12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58371" y="5642798"/>
            <a:ext cx="2872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Y</a:t>
            </a:r>
            <a:endParaRPr lang="zh-TW" altLang="en-US" sz="12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450541" y="1822135"/>
            <a:ext cx="3016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err="1" smtClean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functions.h</a:t>
            </a:r>
            <a:endParaRPr lang="en-US" altLang="zh-TW" sz="1200" dirty="0" smtClean="0">
              <a:solidFill>
                <a:srgbClr val="80808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marL="180975" lvl="1"/>
            <a:r>
              <a:rPr lang="en-US" altLang="zh-TW" sz="1200" dirty="0" smtClean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</a:t>
            </a:r>
            <a:r>
              <a:rPr lang="en-US" altLang="zh-TW" sz="1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define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(x) (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SCREENWIDTH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/2 + (</a:t>
            </a:r>
            <a:r>
              <a:rPr lang="en-US" altLang="zh-TW" sz="12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x))</a:t>
            </a:r>
            <a:endParaRPr lang="zh-TW" altLang="en-US" sz="1200" dirty="0" smtClean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marL="180975" lvl="1"/>
            <a:r>
              <a:rPr lang="en-US" altLang="zh-TW" sz="1200" dirty="0" smtClean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12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200" dirty="0" smtClean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12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(y) (</a:t>
            </a:r>
            <a:r>
              <a:rPr lang="en-US" altLang="zh-TW" sz="1200" dirty="0" smtClean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SCREENHEIGHT</a:t>
            </a:r>
            <a:r>
              <a:rPr lang="en-US" altLang="zh-TW" sz="12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/2 - (y))</a:t>
            </a:r>
            <a:endParaRPr lang="zh-TW" altLang="en-US" sz="1200" dirty="0"/>
          </a:p>
        </p:txBody>
      </p:sp>
      <p:sp>
        <p:nvSpPr>
          <p:cNvPr id="25" name="矩形 24"/>
          <p:cNvSpPr/>
          <p:nvPr/>
        </p:nvSpPr>
        <p:spPr bwMode="auto">
          <a:xfrm>
            <a:off x="5742509" y="2935897"/>
            <a:ext cx="2161774" cy="1983783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7" name="直線單箭頭接點 26"/>
          <p:cNvCxnSpPr/>
          <p:nvPr/>
        </p:nvCxnSpPr>
        <p:spPr bwMode="auto">
          <a:xfrm>
            <a:off x="5450541" y="3951545"/>
            <a:ext cx="283619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8" name="直線單箭頭接點 27"/>
          <p:cNvCxnSpPr/>
          <p:nvPr/>
        </p:nvCxnSpPr>
        <p:spPr bwMode="auto">
          <a:xfrm flipV="1">
            <a:off x="6826384" y="2678884"/>
            <a:ext cx="0" cy="266519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7934772" y="3509785"/>
            <a:ext cx="114005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9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SCREENWIDTH/2</a:t>
            </a:r>
            <a:endParaRPr lang="zh-TW" altLang="en-US" sz="9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760143" y="3922326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(0,0)</a:t>
            </a:r>
            <a:endParaRPr lang="zh-TW" altLang="en-US" sz="1200" dirty="0">
              <a:latin typeface="+mj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309931" y="3872980"/>
            <a:ext cx="2872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X</a:t>
            </a:r>
            <a:endParaRPr lang="zh-TW" altLang="en-US" sz="12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795895" y="2686063"/>
            <a:ext cx="2872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Y</a:t>
            </a:r>
            <a:endParaRPr lang="zh-TW" altLang="en-US" sz="12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563981" y="4127764"/>
            <a:ext cx="117852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9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-SCREENWIDTH/2</a:t>
            </a:r>
            <a:endParaRPr lang="zh-TW" altLang="en-US" sz="900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72857" y="5408394"/>
            <a:ext cx="14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SCREENHEIGHT</a:t>
            </a:r>
            <a:endParaRPr lang="zh-TW" altLang="en-US" sz="1200" dirty="0">
              <a:solidFill>
                <a:srgbClr val="6F008A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23396" y="5057499"/>
            <a:ext cx="123623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9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-SCREENHEIGHT/2</a:t>
            </a:r>
            <a:endParaRPr lang="zh-TW" altLang="en-US" sz="900" dirty="0">
              <a:solidFill>
                <a:srgbClr val="6F008A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598131" y="2605021"/>
            <a:ext cx="119776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900" dirty="0" smtClean="0">
                <a:solidFill>
                  <a:srgbClr val="6F008A"/>
                </a:solidFill>
                <a:latin typeface="+mj-lt"/>
                <a:ea typeface="微軟正黑體" panose="020B0604030504040204" pitchFamily="34" charset="-120"/>
              </a:rPr>
              <a:t>SCREENHEIGHT/2</a:t>
            </a:r>
            <a:endParaRPr lang="zh-TW" altLang="en-US" sz="900" dirty="0">
              <a:solidFill>
                <a:srgbClr val="6F008A"/>
              </a:solidFill>
              <a:latin typeface="+mj-lt"/>
              <a:ea typeface="微軟正黑體" panose="020B0604030504040204" pitchFamily="34" charset="-120"/>
            </a:endParaRPr>
          </a:p>
        </p:txBody>
      </p:sp>
      <p:cxnSp>
        <p:nvCxnSpPr>
          <p:cNvPr id="39" name="直線單箭頭接點 38"/>
          <p:cNvCxnSpPr>
            <a:endCxn id="25" idx="3"/>
          </p:cNvCxnSpPr>
          <p:nvPr/>
        </p:nvCxnSpPr>
        <p:spPr bwMode="auto">
          <a:xfrm flipH="1">
            <a:off x="7904283" y="3742955"/>
            <a:ext cx="195592" cy="18483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0" name="直線單箭頭接點 39"/>
          <p:cNvCxnSpPr/>
          <p:nvPr/>
        </p:nvCxnSpPr>
        <p:spPr bwMode="auto">
          <a:xfrm flipH="1" flipV="1">
            <a:off x="6823396" y="4920008"/>
            <a:ext cx="146496" cy="13441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5580553" y="3963409"/>
            <a:ext cx="146712" cy="17621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>
            <a:off x="6679391" y="2799342"/>
            <a:ext cx="138309" cy="13725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H="1" flipV="1">
            <a:off x="3062172" y="3180254"/>
            <a:ext cx="222424" cy="23759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50" name="直線單箭頭接點 49"/>
          <p:cNvCxnSpPr/>
          <p:nvPr/>
        </p:nvCxnSpPr>
        <p:spPr bwMode="auto">
          <a:xfrm flipH="1" flipV="1">
            <a:off x="915714" y="5186629"/>
            <a:ext cx="222424" cy="23759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3848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 smtClean="0"/>
              <a:t>單張繪圖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5"/>
            <a:ext cx="6628250" cy="993423"/>
          </a:xfrm>
        </p:spPr>
        <p:txBody>
          <a:bodyPr/>
          <a:lstStyle/>
          <a:p>
            <a:r>
              <a:rPr lang="en-US" altLang="zh-TW" sz="3200" dirty="0" smtClean="0"/>
              <a:t>Bgi_101.cpp</a:t>
            </a:r>
          </a:p>
          <a:p>
            <a:pPr lvl="1"/>
            <a:r>
              <a:rPr lang="zh-TW" altLang="en-US" dirty="0" smtClean="0"/>
              <a:t>單張的繪圖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4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70960" y="2326573"/>
            <a:ext cx="659202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zh-TW" sz="12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s-E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x = 100, y = 100;</a:t>
            </a: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setcolor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(COLOR(100, 200, 250));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設定顏色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circle(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(x-100), 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(y), 100);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BGI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預設提供的函式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setfillstyle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(1, 2);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設定填滿樣式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fillellipse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(-300), 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(-300), 50, 50);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填滿一個橢圓，長短軸給一樣就是圓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settextstyle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(0, 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HORIZ_DIR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3);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1 for 8x8   2 for 16x16 bitmap font</a:t>
            </a:r>
            <a:endParaRPr lang="en-US" altLang="zh-TW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outtextxy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(100, 200, 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zh-TW" altLang="en-US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數位科技設計</a:t>
            </a:r>
            <a:r>
              <a:rPr lang="en-US" altLang="zh-TW" sz="12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//------  functions.cpp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中提供的函式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沒有提供填色功能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---------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setcolor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(COLOR(250, 200, 100));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設定顏色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drawTri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(x), 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(y), 50);</a:t>
            </a:r>
          </a:p>
          <a:p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en-US" altLang="zh-TW" sz="1200" dirty="0" err="1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drawTriRot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(X(x), Y(y), 50, 90); 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逆時針方向，所給為角度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setcolor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(COLOR(200, 250, 100));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設定顏色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drawSquare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(x+100), </a:t>
            </a:r>
            <a:r>
              <a:rPr lang="en-U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(y), 100);</a:t>
            </a:r>
          </a:p>
          <a:p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en-US" altLang="zh-TW" sz="1200" dirty="0" err="1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drawSquRot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(X(x + 100), Y(y), 100, 45); 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逆時針方向，所給為角度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2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setcolor</a:t>
            </a:r>
            <a:r>
              <a:rPr lang="en-U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(COLOR(200, 250, 200)); 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設定顏色</a:t>
            </a:r>
            <a:endParaRPr lang="zh-TW" altLang="en-US" sz="12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s-E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drawRect(</a:t>
            </a:r>
            <a:r>
              <a:rPr lang="es-E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s-E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 + 200), </a:t>
            </a:r>
            <a:r>
              <a:rPr lang="es-ES" altLang="zh-TW" sz="12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s-ES" altLang="zh-TW" sz="1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 - 200), 100, 20); </a:t>
            </a:r>
          </a:p>
          <a:p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en-US" altLang="zh-TW" sz="1200" dirty="0" err="1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drawRectRot</a:t>
            </a:r>
            <a:r>
              <a:rPr lang="en-US" altLang="zh-TW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(X(x + 200), Y(y - 200), 100, 20, 30); // </a:t>
            </a:r>
            <a:r>
              <a:rPr lang="zh-TW" altLang="en-US" sz="12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逆時針方向，所給為角度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0240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單張繪圖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1524873"/>
          </a:xfrm>
        </p:spPr>
        <p:txBody>
          <a:bodyPr/>
          <a:lstStyle/>
          <a:p>
            <a:r>
              <a:rPr lang="en-US" altLang="zh-TW" sz="2800"/>
              <a:t>b</a:t>
            </a:r>
            <a:r>
              <a:rPr lang="en-US" altLang="zh-TW" sz="2800" smtClean="0"/>
              <a:t>gi_101.cpp</a:t>
            </a:r>
            <a:endParaRPr lang="en-US" altLang="zh-TW" sz="2800" dirty="0" smtClean="0"/>
          </a:p>
          <a:p>
            <a:pPr lvl="1"/>
            <a:r>
              <a:rPr lang="zh-TW" altLang="en-US" dirty="0"/>
              <a:t>隨機產生 </a:t>
            </a:r>
            <a:r>
              <a:rPr lang="en-US" altLang="zh-TW" dirty="0"/>
              <a:t>10 </a:t>
            </a:r>
            <a:r>
              <a:rPr lang="zh-TW" altLang="en-US" dirty="0"/>
              <a:t>個圓的座標、半徑與</a:t>
            </a:r>
            <a:r>
              <a:rPr lang="zh-TW" altLang="en-US" dirty="0" smtClean="0"/>
              <a:t>顏色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並</a:t>
            </a:r>
            <a:r>
              <a:rPr lang="zh-TW" altLang="en-US" dirty="0"/>
              <a:t>依序的畫出來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5</a:t>
            </a:fld>
            <a:endParaRPr lang="en-US" altLang="zh-TW"/>
          </a:p>
        </p:txBody>
      </p:sp>
      <p:sp>
        <p:nvSpPr>
          <p:cNvPr id="6" name="矩形 5"/>
          <p:cNvSpPr/>
          <p:nvPr/>
        </p:nvSpPr>
        <p:spPr>
          <a:xfrm>
            <a:off x="1103948" y="2783681"/>
            <a:ext cx="56626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radius;</a:t>
            </a:r>
          </a:p>
          <a:p>
            <a:r>
              <a:rPr lang="en-US" altLang="zh-TW" dirty="0" err="1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cr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cg,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cb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nn-NO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(i = 0; i &lt; 10; i++)</a:t>
            </a:r>
          </a:p>
          <a:p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{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 = rand() % 600 - 300;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 = rand() % 600 - 300;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radius = 10 + rand() % 40;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cr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= rand() % 155 + 100;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cg = rand() % 155 + 100;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cb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= rand() % 155 + 100;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setcolor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(COLOR(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cr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cg,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cb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));  </a:t>
            </a:r>
            <a:r>
              <a:rPr lang="en-US" altLang="zh-TW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設定顏色</a:t>
            </a:r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circle(</a:t>
            </a:r>
            <a:r>
              <a:rPr lang="en-US" altLang="zh-TW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(x), </a:t>
            </a:r>
            <a:r>
              <a:rPr lang="en-US" altLang="zh-TW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(y), radius);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282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 smtClean="0"/>
              <a:t>動態</a:t>
            </a:r>
            <a:r>
              <a:rPr lang="zh-TW" altLang="en-US" sz="3600" dirty="0"/>
              <a:t>繪圖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/>
              <a:t>bgi_animate.cpp</a:t>
            </a:r>
            <a:endParaRPr lang="en-US" altLang="zh-TW" sz="2800" dirty="0"/>
          </a:p>
          <a:p>
            <a:pPr lvl="1"/>
            <a:r>
              <a:rPr lang="zh-TW" altLang="en-US" sz="2400" dirty="0" smtClean="0"/>
              <a:t>動態</a:t>
            </a:r>
            <a:r>
              <a:rPr lang="zh-TW" altLang="en-US" sz="2400" dirty="0"/>
              <a:t>繪圖</a:t>
            </a:r>
            <a:endParaRPr lang="zh-TW" altLang="en-US" dirty="0"/>
          </a:p>
          <a:p>
            <a:pPr lvl="1"/>
            <a:r>
              <a:rPr lang="en-US" altLang="zh-TW" sz="20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20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20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EXAMPLE</a:t>
            </a:r>
            <a:r>
              <a:rPr lang="en-US" altLang="zh-TW" sz="20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1  </a:t>
            </a:r>
            <a:r>
              <a:rPr lang="en-US" altLang="zh-TW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2000" dirty="0" smtClean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這</a:t>
            </a:r>
            <a:r>
              <a:rPr lang="zh-TW" altLang="en-US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裡</a:t>
            </a:r>
            <a:r>
              <a:rPr lang="zh-TW" altLang="en-US" sz="2000" dirty="0" smtClean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設定 </a:t>
            </a:r>
            <a:r>
              <a:rPr lang="en-US" altLang="zh-TW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1</a:t>
            </a:r>
            <a:r>
              <a:rPr lang="zh-TW" altLang="en-US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、</a:t>
            </a:r>
            <a:r>
              <a:rPr lang="en-US" altLang="zh-TW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2</a:t>
            </a:r>
            <a:r>
              <a:rPr lang="zh-TW" altLang="en-US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、</a:t>
            </a:r>
            <a:r>
              <a:rPr lang="en-US" altLang="zh-TW" sz="2000" dirty="0" smtClean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3</a:t>
            </a:r>
            <a:r>
              <a:rPr lang="zh-TW" altLang="en-US" sz="2000" dirty="0" smtClean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就能執行</a:t>
            </a:r>
            <a:r>
              <a:rPr lang="zh-TW" altLang="en-US" sz="20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對應的範例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6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992908" y="2689443"/>
            <a:ext cx="694618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讓一個半徑為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20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的圓從左邊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(-300,0)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跑到右邊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(300,0)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，每次移動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1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的距離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 err="1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x = -300, y  = 0;</a:t>
            </a:r>
          </a:p>
          <a:p>
            <a:r>
              <a:rPr lang="nn-NO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 i = 0; i &lt; 600; i</a:t>
            </a:r>
            <a:r>
              <a:rPr lang="nn-NO" altLang="zh-TW" sz="1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+</a:t>
            </a:r>
            <a:r>
              <a:rPr lang="en-US" altLang="zh-TW" sz="1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=2</a:t>
            </a:r>
            <a:r>
              <a:rPr lang="nn-NO" altLang="zh-TW" sz="1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</a:t>
            </a:r>
            <a:endParaRPr lang="nn-NO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{</a:t>
            </a:r>
          </a:p>
          <a:p>
            <a:pPr marL="360363" lvl="1"/>
            <a:r>
              <a:rPr lang="en-US" altLang="zh-TW" sz="1600" b="1" dirty="0" err="1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cleardevice</a:t>
            </a:r>
            <a:r>
              <a:rPr lang="en-US" altLang="zh-TW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  <a:r>
              <a:rPr lang="zh-TW" altLang="en-US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zh-TW" altLang="en-US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清除畫面</a:t>
            </a:r>
            <a:endParaRPr lang="en-US" altLang="zh-TW" sz="1600" b="1" dirty="0">
              <a:solidFill>
                <a:srgbClr val="FF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marL="360363" lvl="1"/>
            <a:r>
              <a:rPr lang="en-US" altLang="zh-TW" sz="1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circle(</a:t>
            </a:r>
            <a:r>
              <a:rPr lang="en-US" altLang="zh-TW" sz="1400" dirty="0" smtClean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1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 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+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), </a:t>
            </a:r>
            <a:r>
              <a:rPr lang="en-US" altLang="zh-TW" sz="14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(y), 20);</a:t>
            </a:r>
          </a:p>
          <a:p>
            <a:pPr marL="360363" lvl="1"/>
            <a:r>
              <a:rPr lang="en-US" altLang="zh-TW" sz="1600" b="1" dirty="0" err="1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swapbuffers</a:t>
            </a:r>
            <a:r>
              <a:rPr lang="en-US" altLang="zh-TW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  <a:r>
              <a:rPr lang="zh-TW" altLang="en-US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600" b="1" dirty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zh-TW" altLang="en-US" sz="16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交換繪圖緩衝區</a:t>
            </a:r>
            <a:endParaRPr lang="en-US" altLang="zh-TW" sz="1600" b="1" dirty="0">
              <a:solidFill>
                <a:srgbClr val="FF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marL="360363" lvl="1"/>
            <a:r>
              <a:rPr lang="en-US" altLang="zh-TW" sz="1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Sleep(1);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休息千分之一秒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92908" y="4795371"/>
            <a:ext cx="7523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迴圈不斷的產生每一個物體的位置</a:t>
            </a:r>
          </a:p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將描繪這些物體的繪圖指令放在  </a:t>
            </a:r>
            <a:r>
              <a:rPr lang="en-US" altLang="zh-TW" b="1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cleardevice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();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lang="en-US" altLang="zh-TW" b="1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swapbuffers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();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>
            <a:off x="1380833" y="6188360"/>
            <a:ext cx="5481783" cy="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>
            <a:off x="1828797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直線接點 13"/>
          <p:cNvCxnSpPr/>
          <p:nvPr/>
        </p:nvCxnSpPr>
        <p:spPr bwMode="auto">
          <a:xfrm>
            <a:off x="2140678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直線接點 14"/>
          <p:cNvCxnSpPr/>
          <p:nvPr/>
        </p:nvCxnSpPr>
        <p:spPr bwMode="auto">
          <a:xfrm>
            <a:off x="2452559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直線接點 15"/>
          <p:cNvCxnSpPr/>
          <p:nvPr/>
        </p:nvCxnSpPr>
        <p:spPr bwMode="auto">
          <a:xfrm>
            <a:off x="2764440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直線接點 16"/>
          <p:cNvCxnSpPr/>
          <p:nvPr/>
        </p:nvCxnSpPr>
        <p:spPr bwMode="auto">
          <a:xfrm>
            <a:off x="3076321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直線接點 17"/>
          <p:cNvCxnSpPr/>
          <p:nvPr/>
        </p:nvCxnSpPr>
        <p:spPr bwMode="auto">
          <a:xfrm>
            <a:off x="3388202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直線接點 18"/>
          <p:cNvCxnSpPr/>
          <p:nvPr/>
        </p:nvCxnSpPr>
        <p:spPr bwMode="auto">
          <a:xfrm>
            <a:off x="3700083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直線接點 19"/>
          <p:cNvCxnSpPr/>
          <p:nvPr/>
        </p:nvCxnSpPr>
        <p:spPr bwMode="auto">
          <a:xfrm>
            <a:off x="4011964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" name="直線接點 20"/>
          <p:cNvCxnSpPr/>
          <p:nvPr/>
        </p:nvCxnSpPr>
        <p:spPr bwMode="auto">
          <a:xfrm>
            <a:off x="4323845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" name="直線接點 21"/>
          <p:cNvCxnSpPr/>
          <p:nvPr/>
        </p:nvCxnSpPr>
        <p:spPr bwMode="auto">
          <a:xfrm>
            <a:off x="4635726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4947607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直線接點 23"/>
          <p:cNvCxnSpPr/>
          <p:nvPr/>
        </p:nvCxnSpPr>
        <p:spPr bwMode="auto">
          <a:xfrm>
            <a:off x="5259488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直線接點 24"/>
          <p:cNvCxnSpPr/>
          <p:nvPr/>
        </p:nvCxnSpPr>
        <p:spPr bwMode="auto">
          <a:xfrm>
            <a:off x="5571369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直線接點 25"/>
          <p:cNvCxnSpPr/>
          <p:nvPr/>
        </p:nvCxnSpPr>
        <p:spPr bwMode="auto">
          <a:xfrm>
            <a:off x="5883250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直線接點 26"/>
          <p:cNvCxnSpPr/>
          <p:nvPr/>
        </p:nvCxnSpPr>
        <p:spPr bwMode="auto">
          <a:xfrm>
            <a:off x="6195131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8" name="直線接點 27"/>
          <p:cNvCxnSpPr/>
          <p:nvPr/>
        </p:nvCxnSpPr>
        <p:spPr bwMode="auto">
          <a:xfrm>
            <a:off x="6507016" y="6029032"/>
            <a:ext cx="0" cy="31865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4C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9" name="文字方塊 28"/>
          <p:cNvSpPr txBox="1"/>
          <p:nvPr/>
        </p:nvSpPr>
        <p:spPr>
          <a:xfrm>
            <a:off x="6887092" y="600369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time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1221862" y="559890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frame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778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 smtClean="0"/>
              <a:t>動態</a:t>
            </a:r>
            <a:r>
              <a:rPr lang="zh-TW" altLang="en-US" sz="3600" dirty="0"/>
              <a:t>繪圖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238843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dirty="0" smtClean="0"/>
              <a:t>bgi_animate.cpp</a:t>
            </a:r>
            <a:endParaRPr lang="zh-TW" altLang="en-US" dirty="0"/>
          </a:p>
          <a:p>
            <a:pPr lvl="1"/>
            <a:r>
              <a:rPr lang="en-US" altLang="zh-TW" sz="2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24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EXAMPLE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1</a:t>
            </a:r>
          </a:p>
          <a:p>
            <a:pPr lvl="1"/>
            <a:r>
              <a:rPr lang="zh-TW" altLang="en-US" sz="2400" dirty="0" smtClean="0"/>
              <a:t>長度</a:t>
            </a:r>
            <a:r>
              <a:rPr lang="zh-TW" altLang="en-US" sz="2400" dirty="0"/>
              <a:t>為 </a:t>
            </a:r>
            <a:r>
              <a:rPr lang="en-US" altLang="zh-TW" sz="2400" dirty="0"/>
              <a:t>50 </a:t>
            </a:r>
            <a:r>
              <a:rPr lang="zh-TW" altLang="en-US" sz="2400" dirty="0"/>
              <a:t>的正方形</a:t>
            </a:r>
            <a:r>
              <a:rPr lang="zh-TW" altLang="en-US" sz="2400" dirty="0" smtClean="0"/>
              <a:t>從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0,300) </a:t>
            </a:r>
            <a:r>
              <a:rPr lang="zh-TW" altLang="en-US" sz="2400" dirty="0" smtClean="0"/>
              <a:t>移動到下方 </a:t>
            </a:r>
            <a:r>
              <a:rPr lang="en-US" altLang="zh-TW" sz="2400" dirty="0"/>
              <a:t>(0,-300) 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每次</a:t>
            </a:r>
            <a:r>
              <a:rPr lang="zh-TW" altLang="en-US" sz="2400" dirty="0"/>
              <a:t>移動 </a:t>
            </a:r>
            <a:r>
              <a:rPr lang="en-US" altLang="zh-TW" sz="2400" dirty="0" smtClean="0"/>
              <a:t>2 </a:t>
            </a:r>
            <a:r>
              <a:rPr lang="zh-TW" altLang="en-US" sz="2400" dirty="0"/>
              <a:t>的</a:t>
            </a:r>
            <a:r>
              <a:rPr lang="zh-TW" altLang="en-US" sz="2400" dirty="0" smtClean="0"/>
              <a:t>距離，落下過程同時旋轉</a:t>
            </a:r>
            <a:endParaRPr lang="en-US" altLang="zh-TW" sz="2400" dirty="0" smtClean="0"/>
          </a:p>
          <a:p>
            <a:pPr lvl="1"/>
            <a:r>
              <a:rPr lang="en-US" altLang="zh-TW" sz="2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drawSquRot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24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(x), </a:t>
            </a:r>
            <a:r>
              <a:rPr lang="en-US" altLang="zh-TW" sz="24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(y-</a:t>
            </a:r>
            <a:r>
              <a:rPr lang="en-US" altLang="zh-TW" sz="2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), 50, </a:t>
            </a:r>
            <a:r>
              <a:rPr lang="en-US" altLang="zh-TW" sz="2400" dirty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angle</a:t>
            </a:r>
            <a:r>
              <a:rPr lang="en-US" altLang="zh-TW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  <a:r>
              <a:rPr lang="zh-TW" altLang="en-US" sz="2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endParaRPr lang="en-US" altLang="zh-TW" sz="2400" dirty="0" smtClean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zh-TW" altLang="en-US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讓正方形根據給定的</a:t>
            </a:r>
            <a:r>
              <a:rPr lang="zh-TW" altLang="en-US" sz="2100" b="1" dirty="0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角度</a:t>
            </a:r>
            <a:r>
              <a:rPr lang="zh-TW" altLang="en-US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(angle) </a:t>
            </a:r>
            <a:r>
              <a:rPr lang="zh-TW" altLang="en-US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旋轉，</a:t>
            </a:r>
            <a:r>
              <a:rPr lang="en-US" altLang="zh-TW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zh-TW" altLang="en-US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給角度不是弧度</a:t>
            </a:r>
            <a:r>
              <a:rPr lang="en-US" altLang="zh-TW" sz="21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</a:t>
            </a:r>
            <a:endParaRPr lang="zh-TW" altLang="en-US" sz="21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577047" y="3460401"/>
            <a:ext cx="832993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float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angle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 = 0; y = 300;</a:t>
            </a:r>
          </a:p>
          <a:p>
            <a:r>
              <a:rPr lang="nn-NO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(i = 0; i &lt; 600; i+=2)</a:t>
            </a:r>
          </a:p>
          <a:p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{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cleardevice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drawSquRot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(x), </a:t>
            </a:r>
            <a:r>
              <a:rPr lang="en-US" altLang="zh-TW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(y-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), 50, </a:t>
            </a:r>
            <a:r>
              <a:rPr lang="en-US" altLang="zh-TW" dirty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angle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</a:t>
            </a:r>
            <a:endParaRPr lang="en-US" altLang="zh-TW" dirty="0" smtClean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dirty="0" err="1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swapbuffers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Sleep(1); </a:t>
            </a:r>
            <a:r>
              <a:rPr lang="en-US" altLang="zh-TW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休息千分之一秒</a:t>
            </a:r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angle = angle + 0.5f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	//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每次增加 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0.5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度</a:t>
            </a:r>
            <a:endParaRPr lang="en-US" altLang="zh-TW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 angle &gt;= 360.0f) angle = angle  -360.0f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超過 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360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，從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0</a:t>
            </a:r>
            <a:r>
              <a:rPr lang="zh-TW" altLang="en-US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開始</a:t>
            </a:r>
            <a:endParaRPr lang="en-US" altLang="zh-TW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123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動態繪圖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6"/>
            <a:ext cx="8229600" cy="1084212"/>
          </a:xfrm>
        </p:spPr>
        <p:txBody>
          <a:bodyPr/>
          <a:lstStyle/>
          <a:p>
            <a:r>
              <a:rPr lang="en-US" altLang="zh-TW" sz="32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32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3200" dirty="0" smtClean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EXAMPLE</a:t>
            </a:r>
            <a:r>
              <a:rPr lang="en-US" altLang="zh-TW" sz="32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2 </a:t>
            </a:r>
          </a:p>
          <a:p>
            <a:pPr lvl="1"/>
            <a:r>
              <a:rPr lang="zh-TW" altLang="en-US" sz="28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讓文字與長方形從左邊跑到中間</a:t>
            </a:r>
            <a:r>
              <a:rPr lang="en-US" altLang="zh-TW" sz="28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1419627" y="2497874"/>
            <a:ext cx="682746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 = -300; i &lt; 300; i++)</a:t>
            </a:r>
          </a:p>
          <a:p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{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cleardevice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drawRect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0, 200, 100); </a:t>
            </a:r>
            <a:r>
              <a:rPr lang="en-US" altLang="zh-TW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長方形，給中心點與邊長</a:t>
            </a:r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settextstyle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(0, </a:t>
            </a:r>
            <a:r>
              <a:rPr lang="en-US" altLang="zh-TW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HORIZ_DIR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2);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outtextxy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+ 200, 200, </a:t>
            </a:r>
            <a:r>
              <a:rPr lang="en-US" altLang="zh-TW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zh-TW" altLang="en-US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數位科技設計</a:t>
            </a:r>
            <a:r>
              <a:rPr lang="en-US" altLang="zh-TW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pPr lvl="1"/>
            <a:r>
              <a:rPr lang="en-US" altLang="zh-TW" dirty="0" err="1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swapbuffers</a:t>
            </a:r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1"/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Sleep(1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 </a:t>
            </a:r>
            <a:r>
              <a:rPr lang="en-US" altLang="zh-TW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 </a:t>
            </a:r>
            <a:r>
              <a:rPr lang="zh-TW" altLang="en-US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休息千分之一</a:t>
            </a:r>
            <a:r>
              <a:rPr lang="zh-TW" altLang="en-US" dirty="0" smtClean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秒</a:t>
            </a:r>
            <a:endParaRPr lang="en-US" altLang="zh-TW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9795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動態繪圖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1652103"/>
          </a:xfrm>
        </p:spPr>
        <p:txBody>
          <a:bodyPr/>
          <a:lstStyle/>
          <a:p>
            <a:r>
              <a:rPr lang="en-US" altLang="zh-TW" sz="28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2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28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EXAMPLE</a:t>
            </a:r>
            <a:r>
              <a:rPr lang="en-US" altLang="zh-TW" sz="2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2800" dirty="0" smtClean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3 </a:t>
            </a:r>
            <a:endParaRPr lang="en-US" altLang="zh-TW" sz="28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zh-TW" altLang="en-US" dirty="0"/>
              <a:t>讓 </a:t>
            </a:r>
            <a:r>
              <a:rPr lang="en-US" altLang="zh-TW" dirty="0"/>
              <a:t>10 </a:t>
            </a:r>
            <a:r>
              <a:rPr lang="zh-TW" altLang="en-US" dirty="0"/>
              <a:t>個圓形動</a:t>
            </a:r>
            <a:r>
              <a:rPr lang="zh-TW" altLang="en-US" dirty="0" smtClean="0"/>
              <a:t>起來，隨機在畫面上自行移動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直接看程式檔中的說明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1DE0C-6766-408F-AB68-A5FCC41A70CD}" type="slidenum">
              <a:rPr lang="en-US" altLang="zh-TW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5818428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00Introduction</Template>
  <TotalTime>54147</TotalTime>
  <Words>910</Words>
  <Application>Microsoft Office PowerPoint</Application>
  <PresentationFormat>如螢幕大小 (4:3)</PresentationFormat>
  <Paragraphs>155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細明體</vt:lpstr>
      <vt:lpstr>微軟正黑體</vt:lpstr>
      <vt:lpstr>新細明體</vt:lpstr>
      <vt:lpstr>Arial</vt:lpstr>
      <vt:lpstr>Wingdings</vt:lpstr>
      <vt:lpstr>Network</vt:lpstr>
      <vt:lpstr> BGI 簡介與使用</vt:lpstr>
      <vt:lpstr>專案基本說明</vt:lpstr>
      <vt:lpstr>專案基本說明</vt:lpstr>
      <vt:lpstr>座標系統</vt:lpstr>
      <vt:lpstr>單張繪圖</vt:lpstr>
      <vt:lpstr>單張繪圖</vt:lpstr>
      <vt:lpstr>動態繪圖</vt:lpstr>
      <vt:lpstr>動態繪圖</vt:lpstr>
      <vt:lpstr>動態繪圖</vt:lpstr>
      <vt:lpstr>動態繪圖</vt:lpstr>
    </vt:vector>
  </TitlesOfParts>
  <Company>國立台北教育大學數位科技設計系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第九章結構與自訂資料型別</dc:title>
  <dc:creator>王學武</dc:creator>
  <cp:lastModifiedBy>王學武</cp:lastModifiedBy>
  <cp:revision>6899</cp:revision>
  <dcterms:created xsi:type="dcterms:W3CDTF">2003-09-28T15:45:13Z</dcterms:created>
  <dcterms:modified xsi:type="dcterms:W3CDTF">2021-12-01T01:35:00Z</dcterms:modified>
</cp:coreProperties>
</file>